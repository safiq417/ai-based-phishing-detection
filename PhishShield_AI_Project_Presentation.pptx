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9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hishshield_logo_178663524568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731520"/>
            <a:ext cx="1645920" cy="1645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 panose="020B0604020202020204"/>
              </a:defRPr>
            </a:pPr>
            <a:r>
              <a:t>PhishShield AI</a:t>
            </a:r>
          </a:p>
          <a:p>
            <a:pPr algn="ctr">
              <a:defRPr sz="2000" b="1">
                <a:solidFill>
                  <a:srgbClr val="60A5FA"/>
                </a:solidFill>
                <a:latin typeface="Arial" panose="020B0604020202020204"/>
              </a:defRPr>
            </a:pPr>
            <a:r>
              <a:t>AI-Based Phishing Detection &amp; URL Risk Analysis System</a:t>
            </a:r>
          </a:p>
          <a:p>
            <a:pPr algn="ctr">
              <a:defRPr sz="1400">
                <a:solidFill>
                  <a:srgbClr val="94A3B8"/>
                </a:solidFill>
                <a:latin typeface="Calibri" panose="020F0502020204030204"/>
              </a:defRPr>
            </a:pPr>
            <a:br/>
            <a:r>
              <a:t>Academic Literature Survey &amp; Final Major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93C5FD"/>
                </a:solidFill>
                <a:latin typeface="Arial" panose="020B0604020202020204"/>
              </a:defRPr>
            </a:pPr>
            <a:r>
              <a:t>ABSTRACT</a:t>
            </a:r>
          </a:p>
          <a:p>
            <a:pPr>
              <a:defRPr sz="2200" b="1">
                <a:solidFill>
                  <a:srgbClr val="FFFFFF"/>
                </a:solidFill>
                <a:latin typeface="Arial" panose="020B0604020202020204"/>
              </a:defRPr>
            </a:pPr>
            <a:r>
              <a:t>Project Overview &amp; Executive Summary</a:t>
            </a:r>
          </a:p>
        </p:txBody>
      </p:sp>
      <p:pic>
        <p:nvPicPr>
          <p:cNvPr id="3" name="Picture 2" descr="phishshield_logo_178663524568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137160"/>
            <a:ext cx="731520" cy="7315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 panose="020B0604020202020204"/>
              </a:defRPr>
            </a:pPr>
            <a:r>
              <a:t>The Cyber Threat Landscape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Phishing attacks account for over 80% of reported security incidents globally.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Social engineering exploits human behavior rather than software vulnerabilities.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Attackers use typosquatting, shorteners, and obfuscation to bypass static firewalls.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Static blacklists suffer from a 6 to 48-hour delay before new phishing domains are listed.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 panose="020B0604020202020204"/>
              </a:defRPr>
            </a:pPr>
            <a:r>
              <a:t>The PhishShield AI Solution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Dual Payload Evaluation: Analyzes structured Web URLs &amp; unstructured Email/SMS text.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Hybrid Engine: Combines Scikit-Learn NLP (TF-IDF + Naive Bayes) with lexical heuristics.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Brand Protection: Employs difflib SequenceMatcher fuzzy matching for typosquatting.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Explainable AI: Integrates VirusTotal API v3 &amp; Groq LLM Chatbot (PhishShield AI).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Actionable Artifacts: Generates instant PDF reports &amp; maintains admin audit trails.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93C5FD"/>
                </a:solidFill>
                <a:latin typeface="Arial" panose="020B0604020202020204"/>
              </a:defRPr>
            </a:pPr>
            <a:r>
              <a:t>PROBLEM STATEMENT</a:t>
            </a:r>
          </a:p>
          <a:p>
            <a:pPr>
              <a:defRPr sz="2200" b="1">
                <a:solidFill>
                  <a:srgbClr val="FFFFFF"/>
                </a:solidFill>
                <a:latin typeface="Arial" panose="020B0604020202020204"/>
              </a:defRPr>
            </a:pPr>
            <a:r>
              <a:t>Real-World Cyber Problems Solved</a:t>
            </a:r>
          </a:p>
        </p:txBody>
      </p:sp>
      <p:pic>
        <p:nvPicPr>
          <p:cNvPr id="3" name="Picture 2" descr="phishshield_logo_178663524568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137160"/>
            <a:ext cx="731520" cy="7315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 panose="020B0604020202020204"/>
              </a:defRPr>
            </a:pPr>
            <a:r>
              <a:t>1. Brand Impersonation &amp; Typosquatting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Attackers register domains like 'paypaI.com' or 'hdfc-bank-verify.xyz'.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Solution: Fuzzy string matching cross-references top banking registries (+55 penalty).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120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 panose="020B0604020202020204"/>
              </a:defRPr>
            </a:pPr>
            <a:r>
              <a:t>2. Social Engineering &amp; SMS Phishing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Urgent messages like 'KYC update required in 24 hours' induce panic.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Solution: TF-IDF + Naive Bayes Classifier detects urgency language &amp; phishing intent.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 panose="020B0604020202020204"/>
              </a:defRPr>
            </a:pPr>
            <a:r>
              <a:t>3. URL Shortening &amp; Obfuscation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Links hidden behind bit.ly, raw IPs, or embedded '@' symbols bypass basic filters.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Solution: 10-point lexical telemetry checks protocol, shorteners, TLDs &amp; IP hosts.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1206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 panose="020B0604020202020204"/>
              </a:defRPr>
            </a:pPr>
            <a:r>
              <a:t>4. Blacklist Detection Latency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Public threat lists take up to 48h to index new URLs (Zero-day window).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Solution: Dynamic structural heuristics evaluate links instantly without static lists.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93C5FD"/>
                </a:solidFill>
                <a:latin typeface="Arial" panose="020B0604020202020204"/>
              </a:defRPr>
            </a:pPr>
            <a:r>
              <a:t>STATE OF THE ART</a:t>
            </a:r>
          </a:p>
          <a:p>
            <a:pPr>
              <a:defRPr sz="2200" b="1">
                <a:solidFill>
                  <a:srgbClr val="FFFFFF"/>
                </a:solidFill>
                <a:latin typeface="Arial" panose="020B0604020202020204"/>
              </a:defRPr>
            </a:pPr>
            <a:r>
              <a:t>Literature Survey &amp; Existing Tools</a:t>
            </a:r>
          </a:p>
        </p:txBody>
      </p:sp>
      <p:pic>
        <p:nvPicPr>
          <p:cNvPr id="3" name="Picture 2" descr="phishshield_logo_178663524568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137160"/>
            <a:ext cx="731520" cy="73152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5852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Core Mechanism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Primary Strengths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Limitations &amp; Literature Gaps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VirusTotal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70+ Commercial AV engines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Global database coverage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Slow zero-day detection; no SMS/text analysis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PhishTank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Crowdsourced submissions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Verified community 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High latency in manual reviews; binary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Google Safe Browsing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Browser lookup API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Fast pre-indexed lookups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Fails against brand-new zero-day URLs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Urlscan.io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DOM &amp; screenshot sandbox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Detailed visual rendering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Complex technical output for non-experts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572000"/>
            <a:ext cx="10728655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 panose="020B0604020202020204"/>
              </a:defRPr>
            </a:pPr>
            <a:r>
              <a:t>Key Literature Gaps Identified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Absence of Unified Scanning: Existing platforms inspect URLs or files separately, lacking unified SMS/email evaluation.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Technical Barrier for Users: Traditional outputs supply complex JSON responses without explainable guidance.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Lack of Conversational AI Assistance: Scanners output static verdicts without answering user follow-up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93C5FD"/>
                </a:solidFill>
                <a:latin typeface="Arial" panose="020B0604020202020204"/>
              </a:defRPr>
            </a:pPr>
            <a:r>
              <a:t>TECHNICAL DESIGN</a:t>
            </a:r>
          </a:p>
          <a:p>
            <a:pPr>
              <a:defRPr sz="2200" b="1">
                <a:solidFill>
                  <a:srgbClr val="FFFFFF"/>
                </a:solidFill>
                <a:latin typeface="Arial" panose="020B0604020202020204"/>
              </a:defRPr>
            </a:pPr>
            <a:r>
              <a:t>System Architecture Blueprint</a:t>
            </a:r>
          </a:p>
        </p:txBody>
      </p:sp>
      <p:pic>
        <p:nvPicPr>
          <p:cNvPr id="3" name="Picture 2" descr="phishshield_logo_178663524568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137160"/>
            <a:ext cx="731520" cy="731520"/>
          </a:xfrm>
          <a:prstGeom prst="rect">
            <a:avLst/>
          </a:prstGeom>
        </p:spPr>
      </p:pic>
      <p:pic>
        <p:nvPicPr>
          <p:cNvPr id="4" name="Picture 3" descr="system_architecture_diagram_17866369639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132320" cy="398083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280160"/>
            <a:ext cx="3413455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 panose="020B0604020202020204"/>
              </a:defRPr>
            </a:pPr>
            <a:r>
              <a:t>Architectural Highlights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Flask Web Gateway: Centralized HTTP routing &amp; user authentication.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Hybrid Threat Engine: Orchestrates NLP ML model and Lexical Telemetry.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NLP Classifier: Scikit-Learn TF-IDF + Naive Bayes inference.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External APIs: VirusTotal v3 REST API &amp; Groq LLM Assistant.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SQLite Persistence: High-speed WAL mode for scan history &amp; audit logs.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93C5FD"/>
                </a:solidFill>
                <a:latin typeface="Arial" panose="020B0604020202020204"/>
              </a:defRPr>
            </a:pPr>
            <a:r>
              <a:t>DECISION PIPELINE</a:t>
            </a:r>
          </a:p>
          <a:p>
            <a:pPr>
              <a:defRPr sz="2200" b="1">
                <a:solidFill>
                  <a:srgbClr val="FFFFFF"/>
                </a:solidFill>
                <a:latin typeface="Arial" panose="020B0604020202020204"/>
              </a:defRPr>
            </a:pPr>
            <a:r>
              <a:t>Detection Workflow Process Flowchart</a:t>
            </a:r>
          </a:p>
        </p:txBody>
      </p:sp>
      <p:pic>
        <p:nvPicPr>
          <p:cNvPr id="3" name="Picture 2" descr="phishshield_logo_178663524568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137160"/>
            <a:ext cx="731520" cy="731520"/>
          </a:xfrm>
          <a:prstGeom prst="rect">
            <a:avLst/>
          </a:prstGeom>
        </p:spPr>
      </p:pic>
      <p:pic>
        <p:nvPicPr>
          <p:cNvPr id="4" name="Picture 3" descr="system_flowchart_diagram_17866369843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132320" cy="398083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280160"/>
            <a:ext cx="3413455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 panose="020B0604020202020204"/>
              </a:defRPr>
            </a:pPr>
            <a:r>
              <a:t>Pipeline Decision Steps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1. Input Routing: Validates URL vs SMS/Email payload type.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2. Parallel Extraction: Lexical Telemetry vs TF-IDF Vectorization.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3. Threat Calculation: Merges ML probability, keyword weights &amp; API scores.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4. Risk Matrix: Assigns 5-tier classification (Safe to Critical).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5. Output Generation: Saves to DB &amp; triggers dynamic PDF report.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93C5FD"/>
                </a:solidFill>
                <a:latin typeface="Arial" panose="020B0604020202020204"/>
              </a:defRPr>
            </a:pPr>
            <a:r>
              <a:t>METHODOLOGY</a:t>
            </a:r>
          </a:p>
          <a:p>
            <a:pPr>
              <a:defRPr sz="2200" b="1">
                <a:solidFill>
                  <a:srgbClr val="FFFFFF"/>
                </a:solidFill>
                <a:latin typeface="Arial" panose="020B0604020202020204"/>
              </a:defRPr>
            </a:pPr>
            <a:r>
              <a:t>Machine Learning &amp; Mathematical Formulation</a:t>
            </a:r>
          </a:p>
        </p:txBody>
      </p:sp>
      <p:pic>
        <p:nvPicPr>
          <p:cNvPr id="3" name="Picture 2" descr="phishshield_logo_178663524568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137160"/>
            <a:ext cx="731520" cy="7315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 panose="020B0604020202020204"/>
              </a:defRPr>
            </a:pPr>
            <a:r>
              <a:t>NLP Machine Learning Pipeline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Vectorization: TfidfVectorizer with ngram_range=(1, 2), stop_words='english'.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Model: Multinomial Naive Bayes (alpha=0.1) for high-speed text classification.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Mathematical Equation: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  P(Phishing | Text) = [ P(Text | Phishing) * P(Phishing) ] / P(Text)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Combines token frequencies with posterior class probabilities.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 panose="020B0604020202020204"/>
              </a:defRPr>
            </a:pPr>
            <a:r>
              <a:t>Dynamic Risk Scoring Matrix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Weighted Score Formula: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  S_total = min((S_ML * 0.6) + (S_KW * 0.4) + S_Heuristics + S_Typosquat + S_VT, 100)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Risk Scale Classifications: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  • Safe (0% - 19%): Legitimate payload indicators.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  • Low Risk (20% - 44%): Minor structural anomalies.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  • Medium Risk (45% - 69%): Multiple suspicious patterns.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  • High Risk (70% - 89%): Strong phishing/spoofing markers.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  • Critical (90% - 100%): Severe threat confirmed.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93C5FD"/>
                </a:solidFill>
                <a:latin typeface="Arial" panose="020B0604020202020204"/>
              </a:defRPr>
            </a:pPr>
            <a:r>
              <a:t>BENCHMARKING</a:t>
            </a:r>
          </a:p>
          <a:p>
            <a:pPr>
              <a:defRPr sz="2200" b="1">
                <a:solidFill>
                  <a:srgbClr val="FFFFFF"/>
                </a:solidFill>
                <a:latin typeface="Arial" panose="020B0604020202020204"/>
              </a:defRPr>
            </a:pPr>
            <a:r>
              <a:t>Comparative Analysis: Why Our Website Is Better</a:t>
            </a:r>
          </a:p>
        </p:txBody>
      </p:sp>
      <p:pic>
        <p:nvPicPr>
          <p:cNvPr id="3" name="Picture 2" descr="phishshield_logo_178663524568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137160"/>
            <a:ext cx="731520" cy="73152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Feature / Capability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VirusTotal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PhishTank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Google Safe Browsing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PhishShield AI (Our System)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URL Lexical Heuristics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Indirect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6534"/>
                          </a:solidFill>
                          <a:latin typeface="Calibri" panose="020F0502020204030204"/>
                        </a:defRPr>
                      </a:pPr>
                      <a:r>
                        <a:t>Yes (10-Point Telemetry)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Email / SMS ML Scanning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6534"/>
                          </a:solidFill>
                          <a:latin typeface="Calibri" panose="020F0502020204030204"/>
                        </a:defRPr>
                      </a:pPr>
                      <a:r>
                        <a:t>Yes (TF-IDF + Naive Bayes)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Typosquatting Matcher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6534"/>
                          </a:solidFill>
                          <a:latin typeface="Calibri" panose="020F0502020204030204"/>
                        </a:defRPr>
                      </a:pPr>
                      <a:r>
                        <a:t>Yes (SequenceMatcher)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Interactive AI Chatbot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6534"/>
                          </a:solidFill>
                          <a:latin typeface="Calibri" panose="020F0502020204030204"/>
                        </a:defRPr>
                      </a:pPr>
                      <a:r>
                        <a:t>Yes (PhishShield AI Assistant)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PDF Threat Report Export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6534"/>
                          </a:solidFill>
                          <a:latin typeface="Calibri" panose="020F0502020204030204"/>
                        </a:defRPr>
                      </a:pPr>
                      <a:r>
                        <a:t>Yes (ReportLab Generator)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Role-Based Admin Audit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6534"/>
                          </a:solidFill>
                          <a:latin typeface="Calibri" panose="020F0502020204030204"/>
                        </a:defRPr>
                      </a:pPr>
                      <a:r>
                        <a:t>Yes (RBAC System Logs)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5-Tier User Risk Leveling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JSON Stats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Binary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 panose="020F0502020204030204"/>
                        </a:defRPr>
                      </a:pPr>
                      <a:r>
                        <a:t>Binary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6534"/>
                          </a:solidFill>
                          <a:latin typeface="Calibri" panose="020F0502020204030204"/>
                        </a:defRPr>
                      </a:pPr>
                      <a:r>
                        <a:t>Yes (Safe to Critical)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93C5FD"/>
                </a:solidFill>
                <a:latin typeface="Arial" panose="020B0604020202020204"/>
              </a:defRPr>
            </a:pPr>
            <a:r>
              <a:t>SYSTEM MODULES</a:t>
            </a:r>
          </a:p>
          <a:p>
            <a:pPr>
              <a:defRPr sz="2200" b="1">
                <a:solidFill>
                  <a:srgbClr val="FFFFFF"/>
                </a:solidFill>
                <a:latin typeface="Arial" panose="020B0604020202020204"/>
              </a:defRPr>
            </a:pPr>
            <a:r>
              <a:t>Core Application Modules &amp; UI Features</a:t>
            </a:r>
          </a:p>
        </p:txBody>
      </p:sp>
      <p:pic>
        <p:nvPicPr>
          <p:cNvPr id="3" name="Picture 2" descr="phishshield_logo_178663524568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137160"/>
            <a:ext cx="731520" cy="7315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 panose="020B0604020202020204"/>
              </a:defRPr>
            </a:pPr>
            <a:r>
              <a:t>1. Interactive Security Dashboard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Features live threat counters, Chart.js Doughnut charts, scan history table, and custom payload type selector dropdown.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120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 panose="020B0604020202020204"/>
              </a:defRPr>
            </a:pPr>
            <a:r>
              <a:t>2. PhishShield AI Assistant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Groq LLM-powered real-time assistant answering security questions and explaining specific scan indicators.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 panose="020B0604020202020204"/>
              </a:defRPr>
            </a:pPr>
            <a:r>
              <a:t>3. PDF Threat Report Generator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ReportLab Platypus engine producing downloadable PDF reports with detailed threat scores and timestamps.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1206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 panose="020B0604020202020204"/>
              </a:defRPr>
            </a:pPr>
            <a:r>
              <a:t>4. Role-Based Admin Audit Panel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Privileged dashboard for operator management, account controls, and chronological system event trailing.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93C5FD"/>
                </a:solidFill>
                <a:latin typeface="Arial" panose="020B0604020202020204"/>
              </a:defRPr>
            </a:pPr>
            <a:r>
              <a:t>IMPLEMENTATION</a:t>
            </a:r>
          </a:p>
          <a:p>
            <a:pPr>
              <a:defRPr sz="2200" b="1">
                <a:solidFill>
                  <a:srgbClr val="FFFFFF"/>
                </a:solidFill>
                <a:latin typeface="Arial" panose="020B0604020202020204"/>
              </a:defRPr>
            </a:pPr>
            <a:r>
              <a:t>Technology Stack Breakdown</a:t>
            </a:r>
          </a:p>
        </p:txBody>
      </p:sp>
      <p:pic>
        <p:nvPicPr>
          <p:cNvPr id="3" name="Picture 2" descr="phishshield_logo_178663524568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137160"/>
            <a:ext cx="731520" cy="7315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371600"/>
            <a:ext cx="3328416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 panose="020B0604020202020204"/>
              </a:defRPr>
            </a:pPr>
            <a:r>
              <a:t>Backend &amp; Logic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Python 3.10+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Flask 3.x Web Server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Werkzeug Password Hashing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ReportLab PDF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 panose="020B0604020202020204"/>
              </a:defRPr>
            </a:pPr>
            <a:r>
              <a:t>ML &amp; Intelligence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Scikit-Learn NLP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TF-IDF Vectorizer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Multinomial Naive Bayes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VirusTotal V3 REST API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Groq / Grok LLM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 panose="020B0604020202020204"/>
              </a:defRPr>
            </a:pPr>
            <a:r>
              <a:t>Frontend &amp; DB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HTML5 &amp; ES6+ JS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Tailwind CSS Layout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Chart.js Visualizations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SQLite3 (WAL Mode)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93C5FD"/>
                </a:solidFill>
                <a:latin typeface="Arial" panose="020B0604020202020204"/>
              </a:defRPr>
            </a:pPr>
            <a:r>
              <a:t>ROADMAP</a:t>
            </a:r>
          </a:p>
          <a:p>
            <a:pPr>
              <a:defRPr sz="2200" b="1">
                <a:solidFill>
                  <a:srgbClr val="FFFFFF"/>
                </a:solidFill>
                <a:latin typeface="Arial" panose="020B0604020202020204"/>
              </a:defRPr>
            </a:pPr>
            <a:r>
              <a:t>Future Scope &amp; Enhancements</a:t>
            </a:r>
          </a:p>
        </p:txBody>
      </p:sp>
      <p:pic>
        <p:nvPicPr>
          <p:cNvPr id="3" name="Picture 2" descr="phishshield_logo_178663524568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137160"/>
            <a:ext cx="731520" cy="7315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 panose="020B0604020202020204"/>
              </a:defRPr>
            </a:pPr>
            <a:r>
              <a:t>1. Browser Extension (Chrome Plugin)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Manifest V3 extension inspecting web links inside emails and active browser tabs in real-time.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120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 panose="020B0604020202020204"/>
              </a:defRPr>
            </a:pPr>
            <a:r>
              <a:t>2. Live WHOIS Domain Age Telemetry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WHOIS protocol integration penalizing newly registered domains (under 30 days old).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 panose="020B0604020202020204"/>
              </a:defRPr>
            </a:pPr>
            <a:r>
              <a:t>3. Deep Learning (BERT Models)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Fine-tuned DistilBERT / RoBERTa models for advanced spear-phishing contextual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1206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 panose="020B0604020202020204"/>
              </a:defRPr>
            </a:pPr>
            <a:r>
              <a:t>4. Enterprise REST API Endpoints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 panose="020F0502020204030204"/>
              </a:defRPr>
            </a:pPr>
            <a:r>
              <a:t>• Secure API key endpoints (/api/v1/scan) for batch automated threat analysis in corporate SOCs.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hishshield_logo_178663524568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914400"/>
            <a:ext cx="1645920" cy="1645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43200"/>
            <a:ext cx="10362895" cy="1599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 panose="020B0604020202020204"/>
              </a:defRPr>
            </a:pPr>
            <a:r>
              <a:rPr sz="4800"/>
              <a:t>Thank You!</a:t>
            </a:r>
          </a:p>
          <a:p>
            <a:pPr algn="ctr">
              <a:defRPr sz="2200" b="1">
                <a:solidFill>
                  <a:srgbClr val="60A5FA"/>
                </a:solidFill>
                <a:latin typeface="Arial" panose="020B0604020202020204"/>
              </a:defRPr>
            </a:pPr>
          </a:p>
          <a:p>
            <a:pPr algn="ctr">
              <a:defRPr sz="1400">
                <a:solidFill>
                  <a:srgbClr val="94A3B8"/>
                </a:solidFill>
                <a:latin typeface="Calibri" panose="020F0502020204030204"/>
              </a:defRPr>
            </a:pPr>
            <a:br/>
            <a:r>
              <a:t>We extend our sincere thanks to our Project Guide, Examiners &amp; Faculty Members.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6536</Words>
  <Application>WPS Presentation</Application>
  <PresentationFormat>On-screen Show (4:3)</PresentationFormat>
  <Paragraphs>266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SAFIQ Ansari</cp:lastModifiedBy>
  <cp:revision>2</cp:revision>
  <dcterms:created xsi:type="dcterms:W3CDTF">2013-01-27T09:14:00Z</dcterms:created>
  <dcterms:modified xsi:type="dcterms:W3CDTF">2026-08-17T05:52:02Z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0C73FDE1136C4CFF87343FDBEA91AAF5_12</vt:lpwstr>
  </property>
  <property fmtid="{D5CDD505-2E9C-101B-9397-08002B2CF9AE}" pid="3" name="KSOProductBuildVer">
    <vt:lpwstr>1033-12.1.0.26886</vt:lpwstr>
  </property>
</Properties>
</file>